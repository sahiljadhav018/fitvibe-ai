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73152"/>
          </a:xfrm>
          <a:prstGeom prst="rect">
            <a:avLst/>
          </a:prstGeom>
          <a:solidFill>
            <a:srgbClr val="F3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7023"/>
                </a:solidFill>
                <a:latin typeface="Arial"/>
              </a:defRPr>
            </a:pPr>
            <a:r>
              <a:t>SMART INDIA HACKATHON (SIH) 2026 | 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FitVibe AI: Student Fitness &amp; Wellness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AD7E9"/>
                </a:solidFill>
                <a:latin typeface="Arial"/>
              </a:defRPr>
            </a:pPr>
            <a:r>
              <a:t>Edge AI Real-Time Pose Correction, Gamified Campus Leagues &amp; Smart Desi Nutrition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545775" cy="960120"/>
          </a:xfrm>
          <a:prstGeom prst="roundRect">
            <a:avLst/>
          </a:prstGeom>
          <a:solidFill>
            <a:srgbClr val="1A2C4C"/>
          </a:solidFill>
          <a:ln w="12700">
            <a:solidFill>
              <a:srgbClr val="F3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• Problem Statement ID: 26196       • Category: Software       • Theme: Fitness &amp; Sports</a:t>
            </a:r>
          </a:p>
          <a:p>
            <a:pPr>
              <a:defRPr sz="1200">
                <a:solidFill>
                  <a:srgbClr val="E2E8F0"/>
                </a:solidFill>
                <a:latin typeface="Arial"/>
              </a:defRPr>
            </a:pPr>
            <a:r>
              <a:t>• Problem Statement: Student Innovation - Ideas that can boost fitness activities and assist in keeping 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34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</a:defRPr>
            </a:pPr>
            <a:r>
              <a:t>TEAM DETAILS</a:t>
            </a:r>
          </a:p>
          <a:p>
            <a:r>
              <a:rPr b="1" sz="1100">
                <a:solidFill>
                  <a:srgbClr val="0F172A"/>
                </a:solidFill>
              </a:rPr>
              <a:t>Team Name: </a:t>
            </a:r>
            <a:r>
              <a:rPr sz="1100">
                <a:solidFill>
                  <a:srgbClr val="475569"/>
                </a:solidFill>
              </a:rPr>
              <a:t>[Enter Your Team Name]</a:t>
            </a:r>
          </a:p>
          <a:p>
            <a:r>
              <a:rPr b="1" sz="1100">
                <a:solidFill>
                  <a:srgbClr val="0F172A"/>
                </a:solidFill>
              </a:rPr>
              <a:t>Team Leader: </a:t>
            </a:r>
            <a:r>
              <a:rPr sz="1100">
                <a:solidFill>
                  <a:srgbClr val="475569"/>
                </a:solidFill>
              </a:rPr>
              <a:t>[Leader Name] | [Contact / Email]</a:t>
            </a:r>
          </a:p>
          <a:p>
            <a:r>
              <a:rPr b="1" sz="1100">
                <a:solidFill>
                  <a:srgbClr val="0F172A"/>
                </a:solidFill>
              </a:rPr>
              <a:t>College / Institute: </a:t>
            </a:r>
            <a:r>
              <a:rPr sz="1100">
                <a:solidFill>
                  <a:srgbClr val="475569"/>
                </a:solidFill>
              </a:rPr>
              <a:t>[Your College / University Name]</a:t>
            </a:r>
          </a:p>
          <a:p>
            <a:r>
              <a:rPr b="1" sz="1100">
                <a:solidFill>
                  <a:srgbClr val="0F172A"/>
                </a:solidFill>
              </a:rPr>
              <a:t>State / City: </a:t>
            </a:r>
            <a:r>
              <a:rPr sz="1100">
                <a:solidFill>
                  <a:srgbClr val="475569"/>
                </a:solidFill>
              </a:rPr>
              <a:t>[City, State]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2976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4434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</a:defRPr>
            </a:pPr>
            <a:r>
              <a:t>TEAM MEMBERS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1. [Member 1 / Leader] - AI / Full-Stack Lead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2. [Member 2] - Mobile App Developer (Flutter/RN)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3. [Member 3] - Computer Vision &amp; ML Engineer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4. [Member 4] - Backend &amp; Cloud Architect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5. [Member 5] - UI/UX &amp; Gamification Designer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6. [Member 6] - Testing &amp; Research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37023"/>
                </a:solidFill>
                <a:latin typeface="Arial"/>
              </a:defRPr>
            </a:pPr>
            <a:r>
              <a:t>SIH 2026 | PS ID: 26196 | SOFTWARE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Proposed Solution &amp; Core Innovation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3"/>
                </a:solidFill>
              </a:defRPr>
            </a:pPr>
            <a:r>
              <a:t>PROBLEM CONTEXT &amp; STUDENT CHALLENGE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Sedentary Lifestyle: Students spend 8-12 hours sitting for lectures, coding, and study sessions, causing posture deformities and lethargy.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Barriers to Entry: Expensive gym memberships, lack of trainers, and lack of guidance lead to incorrect exercise forms and injuries.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Low Motivation: Standard fitness apps lack social relevance, causing &gt;70% student abandonment within 14 days.</a:t>
            </a:r>
          </a:p>
          <a:p>
            <a:br/>
            <a:pPr>
              <a:defRPr sz="1300" b="1">
                <a:solidFill>
                  <a:srgbClr val="0D9488"/>
                </a:solidFill>
              </a:defRPr>
            </a:pPr>
            <a:r>
              <a:t>OUR PROPOSED SOLUTION: FitVibe AI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FitVibe AI is an AI-powered, privacy-first mobile fitness platform tailored specifically for Indian students. It turns any budget smartphone camera into a personal real-time fitness trainer without requiring smartwatches or gym equipment.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By fusing Edge Computer Vision with Campus Gamification and Affordable Indian Diet Tracking, FitVibe AI makes daily fitness intuitive, social, and habit-forming.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7889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2514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37023"/>
                </a:solidFill>
              </a:defRPr>
            </a:pPr>
            <a:r>
              <a:t>AI Real-Time Pose Coach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Uses smartphone camera to track 33 body keypoints.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Validates posture (Squats, Push-ups, Surya Namaskar).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Gives instant audio voice cues (e.g., 'Straighten back').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Automated repetition counting &amp; form accuracy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280160"/>
            <a:ext cx="27889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417320"/>
            <a:ext cx="2514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E36"/>
                </a:solidFill>
              </a:defRPr>
            </a:pPr>
            <a:r>
              <a:t>Gamified Campus Leagues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Intra-college and hostel leaderboards &amp; streak loops.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1v1 asynchronous fitness battles between friends.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Earn XP points, unlock fitness badges &amp; avatar gear.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Converts peer pressure into positive fitness motivation.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86200"/>
            <a:ext cx="27889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23360"/>
            <a:ext cx="2514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D9488"/>
                </a:solidFill>
              </a:defRPr>
            </a:pPr>
            <a:r>
              <a:t>Desi Nutrition &amp; Canteen AI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Tailored for Indian student diet &amp; mess food.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Photo-based food scanner detects Dal, Roti, Rice, Sabzi.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Calculates daily macros &amp; suggests budget high-protein options.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Hydration alerts synced with student class timetables.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3886200"/>
            <a:ext cx="27889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4023360"/>
            <a:ext cx="25146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E36"/>
                </a:solidFill>
              </a:defRPr>
            </a:pPr>
            <a:r>
              <a:t>Micro-Workouts &amp; Habit Loops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3 to 5-minute study-break stretching routines.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Desk posture alert using laptop webcam or phone gyroscope.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Zero equipment needed; 100% dormitory/room friendly.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Guided breathing and relaxation for exam stress relief.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37023"/>
                </a:solidFill>
                <a:latin typeface="Arial"/>
              </a:defRPr>
            </a:pPr>
            <a:r>
              <a:t>SIH 2026 | PS ID: 26196 | ARCHITECTURE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Technical Approach: Tech Stack &amp; Development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108200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⚙ TECHNOLOGIES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44752"/>
            <a:ext cx="1719072" cy="2423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17904"/>
            <a:ext cx="1572768" cy="2276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40AF"/>
                </a:solidFill>
              </a:defRPr>
            </a:pPr>
            <a:r>
              <a:t>Frontend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User Interface &amp; 3D</a:t>
            </a:r>
          </a:p>
          <a:p>
            <a:r>
              <a:rPr b="1" sz="819">
                <a:solidFill>
                  <a:srgbClr val="0F172A"/>
                </a:solidFill>
              </a:rPr>
              <a:t>• HTML5: </a:t>
            </a:r>
            <a:r>
              <a:rPr sz="780">
                <a:solidFill>
                  <a:srgbClr val="475569"/>
                </a:solidFill>
              </a:rPr>
              <a:t>PWA Structure</a:t>
            </a:r>
          </a:p>
          <a:p>
            <a:r>
              <a:rPr b="1" sz="819">
                <a:solidFill>
                  <a:srgbClr val="0F172A"/>
                </a:solidFill>
              </a:rPr>
              <a:t>• Tailwind: </a:t>
            </a:r>
            <a:r>
              <a:rPr sz="780">
                <a:solidFill>
                  <a:srgbClr val="475569"/>
                </a:solidFill>
              </a:rPr>
              <a:t>3D Dark Styling</a:t>
            </a:r>
          </a:p>
          <a:p>
            <a:r>
              <a:rPr b="1" sz="819">
                <a:solidFill>
                  <a:srgbClr val="0F172A"/>
                </a:solidFill>
              </a:rPr>
              <a:t>• JS (ES6+): </a:t>
            </a:r>
            <a:r>
              <a:rPr sz="780">
                <a:solidFill>
                  <a:srgbClr val="475569"/>
                </a:solidFill>
              </a:rPr>
              <a:t>Interactivity</a:t>
            </a:r>
          </a:p>
          <a:p>
            <a:r>
              <a:rPr b="1" sz="819">
                <a:solidFill>
                  <a:srgbClr val="0F172A"/>
                </a:solidFill>
              </a:rPr>
              <a:t>• Three.js: </a:t>
            </a:r>
            <a:r>
              <a:rPr sz="780">
                <a:solidFill>
                  <a:srgbClr val="475569"/>
                </a:solidFill>
              </a:rPr>
              <a:t>3D Trophy &amp; Tilt</a:t>
            </a:r>
          </a:p>
          <a:p>
            <a:r>
              <a:rPr b="1" sz="819">
                <a:solidFill>
                  <a:srgbClr val="0F172A"/>
                </a:solidFill>
              </a:rPr>
              <a:t>• MediaPipe: </a:t>
            </a:r>
            <a:r>
              <a:rPr sz="780">
                <a:solidFill>
                  <a:srgbClr val="475569"/>
                </a:solidFill>
              </a:rPr>
              <a:t>3D Pose 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1444752"/>
            <a:ext cx="1719072" cy="242316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1517904"/>
            <a:ext cx="1572768" cy="2276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D28D9"/>
                </a:solidFill>
              </a:defRPr>
            </a:pPr>
            <a:r>
              <a:t>Backend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Logic &amp; AI Rules</a:t>
            </a:r>
          </a:p>
          <a:p>
            <a:r>
              <a:rPr b="1" sz="819">
                <a:solidFill>
                  <a:srgbClr val="0F172A"/>
                </a:solidFill>
              </a:rPr>
              <a:t>• Python 3.10: </a:t>
            </a:r>
            <a:r>
              <a:rPr sz="780">
                <a:solidFill>
                  <a:srgbClr val="475569"/>
                </a:solidFill>
              </a:rPr>
              <a:t>Core Runtime</a:t>
            </a:r>
          </a:p>
          <a:p>
            <a:r>
              <a:rPr b="1" sz="819">
                <a:solidFill>
                  <a:srgbClr val="0F172A"/>
                </a:solidFill>
              </a:rPr>
              <a:t>• Flask: </a:t>
            </a:r>
            <a:r>
              <a:rPr sz="780">
                <a:solidFill>
                  <a:srgbClr val="475569"/>
                </a:solidFill>
              </a:rPr>
              <a:t>REST API Server</a:t>
            </a:r>
          </a:p>
          <a:p>
            <a:r>
              <a:rPr b="1" sz="819">
                <a:solidFill>
                  <a:srgbClr val="0F172A"/>
                </a:solidFill>
              </a:rPr>
              <a:t>• Angle Engine: </a:t>
            </a:r>
            <a:r>
              <a:rPr sz="780">
                <a:solidFill>
                  <a:srgbClr val="475569"/>
                </a:solidFill>
              </a:rPr>
              <a:t>Biomechanical Math</a:t>
            </a:r>
          </a:p>
          <a:p>
            <a:r>
              <a:rPr b="1" sz="819">
                <a:solidFill>
                  <a:srgbClr val="0F172A"/>
                </a:solidFill>
              </a:rPr>
              <a:t>• Web Audio: </a:t>
            </a:r>
            <a:r>
              <a:rPr sz="780">
                <a:solidFill>
                  <a:srgbClr val="475569"/>
                </a:solidFill>
              </a:rPr>
              <a:t>Gong / Hit Synthesizer</a:t>
            </a:r>
          </a:p>
          <a:p>
            <a:r>
              <a:rPr b="1" sz="819">
                <a:solidFill>
                  <a:srgbClr val="0F172A"/>
                </a:solidFill>
              </a:rPr>
              <a:t>• Speech API: </a:t>
            </a:r>
            <a:r>
              <a:rPr sz="780">
                <a:solidFill>
                  <a:srgbClr val="475569"/>
                </a:solidFill>
              </a:rPr>
              <a:t>Voice Commentary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44752"/>
            <a:ext cx="1719072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517904"/>
            <a:ext cx="1572768" cy="2276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47857"/>
                </a:solidFill>
              </a:defRPr>
            </a:pPr>
            <a:r>
              <a:t>Databases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Stores &amp; Manages Data</a:t>
            </a:r>
          </a:p>
          <a:p>
            <a:r>
              <a:rPr b="1" sz="819">
                <a:solidFill>
                  <a:srgbClr val="0F172A"/>
                </a:solidFill>
              </a:rPr>
              <a:t>• SQLite 3: </a:t>
            </a:r>
            <a:r>
              <a:rPr sz="780">
                <a:solidFill>
                  <a:srgbClr val="475569"/>
                </a:solidFill>
              </a:rPr>
              <a:t>fitvibe.db Database</a:t>
            </a:r>
          </a:p>
          <a:p>
            <a:r>
              <a:rPr b="1" sz="819">
                <a:solidFill>
                  <a:srgbClr val="0F172A"/>
                </a:solidFill>
              </a:rPr>
              <a:t>• JSON DB: </a:t>
            </a:r>
            <a:r>
              <a:rPr sz="780">
                <a:solidFill>
                  <a:srgbClr val="475569"/>
                </a:solidFill>
              </a:rPr>
              <a:t>Indian Food Macros</a:t>
            </a:r>
          </a:p>
          <a:p>
            <a:r>
              <a:rPr b="1" sz="819">
                <a:solidFill>
                  <a:srgbClr val="0F172A"/>
                </a:solidFill>
              </a:rPr>
              <a:t>• Session Store: </a:t>
            </a:r>
            <a:r>
              <a:rPr sz="780">
                <a:solidFill>
                  <a:srgbClr val="475569"/>
                </a:solidFill>
              </a:rPr>
              <a:t>Local Caching</a:t>
            </a:r>
          </a:p>
          <a:p>
            <a:r>
              <a:rPr b="1" sz="819">
                <a:solidFill>
                  <a:srgbClr val="0F172A"/>
                </a:solidFill>
              </a:rPr>
              <a:t>• Leaderboard: </a:t>
            </a:r>
            <a:r>
              <a:rPr sz="780">
                <a:solidFill>
                  <a:srgbClr val="475569"/>
                </a:solidFill>
              </a:rPr>
              <a:t>Fast Ranking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444752"/>
            <a:ext cx="1719072" cy="24231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17904"/>
            <a:ext cx="1572768" cy="2276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45309"/>
                </a:solidFill>
              </a:defRPr>
            </a:pPr>
            <a:r>
              <a:t>Development Tools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Code &amp; Collaborate</a:t>
            </a:r>
          </a:p>
          <a:p>
            <a:r>
              <a:rPr b="1" sz="819">
                <a:solidFill>
                  <a:srgbClr val="0F172A"/>
                </a:solidFill>
              </a:rPr>
              <a:t>• VS Code: </a:t>
            </a:r>
            <a:r>
              <a:rPr sz="780">
                <a:solidFill>
                  <a:srgbClr val="475569"/>
                </a:solidFill>
              </a:rPr>
              <a:t>Primary IDE</a:t>
            </a:r>
          </a:p>
          <a:p>
            <a:r>
              <a:rPr b="1" sz="819">
                <a:solidFill>
                  <a:srgbClr val="0F172A"/>
                </a:solidFill>
              </a:rPr>
              <a:t>• Git: </a:t>
            </a:r>
            <a:r>
              <a:rPr sz="780">
                <a:solidFill>
                  <a:srgbClr val="475569"/>
                </a:solidFill>
              </a:rPr>
              <a:t>Version Control</a:t>
            </a:r>
          </a:p>
          <a:p>
            <a:r>
              <a:rPr b="1" sz="819">
                <a:solidFill>
                  <a:srgbClr val="0F172A"/>
                </a:solidFill>
              </a:rPr>
              <a:t>• GitHub: </a:t>
            </a:r>
            <a:r>
              <a:rPr sz="780">
                <a:solidFill>
                  <a:srgbClr val="475569"/>
                </a:solidFill>
              </a:rPr>
              <a:t>Code Repository</a:t>
            </a:r>
          </a:p>
          <a:p>
            <a:r>
              <a:rPr b="1" sz="819">
                <a:solidFill>
                  <a:srgbClr val="0F172A"/>
                </a:solidFill>
              </a:rPr>
              <a:t>• Postman: </a:t>
            </a:r>
            <a:r>
              <a:rPr sz="780">
                <a:solidFill>
                  <a:srgbClr val="475569"/>
                </a:solidFill>
              </a:rPr>
              <a:t>REST API Testing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4" y="1444752"/>
            <a:ext cx="1719072" cy="24231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1517904"/>
            <a:ext cx="1572768" cy="2276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Local Environment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Local Dev &amp; Testing</a:t>
            </a:r>
          </a:p>
          <a:p>
            <a:r>
              <a:rPr b="1" sz="819">
                <a:solidFill>
                  <a:srgbClr val="0F172A"/>
                </a:solidFill>
              </a:rPr>
              <a:t>• Localhost: </a:t>
            </a:r>
            <a:r>
              <a:rPr sz="780">
                <a:solidFill>
                  <a:srgbClr val="475569"/>
                </a:solidFill>
              </a:rPr>
              <a:t>Port 5050 Server</a:t>
            </a:r>
          </a:p>
          <a:p>
            <a:r>
              <a:rPr b="1" sz="819">
                <a:solidFill>
                  <a:srgbClr val="0F172A"/>
                </a:solidFill>
              </a:rPr>
              <a:t>• OpenSSL: </a:t>
            </a:r>
            <a:r>
              <a:rPr sz="780">
                <a:solidFill>
                  <a:srgbClr val="475569"/>
                </a:solidFill>
              </a:rPr>
              <a:t>SSL Cert Context</a:t>
            </a:r>
          </a:p>
          <a:p>
            <a:r>
              <a:rPr b="1" sz="819">
                <a:solidFill>
                  <a:srgbClr val="0F172A"/>
                </a:solidFill>
              </a:rPr>
              <a:t>• Start_App.bat: </a:t>
            </a:r>
            <a:r>
              <a:rPr sz="780">
                <a:solidFill>
                  <a:srgbClr val="475569"/>
                </a:solidFill>
              </a:rPr>
              <a:t>1-Click Launcher</a:t>
            </a:r>
          </a:p>
          <a:p>
            <a:r>
              <a:rPr b="1" sz="819">
                <a:solidFill>
                  <a:srgbClr val="0F172A"/>
                </a:solidFill>
              </a:rPr>
              <a:t>• Chrome / Edge: </a:t>
            </a:r>
            <a:r>
              <a:rPr sz="780">
                <a:solidFill>
                  <a:srgbClr val="475569"/>
                </a:solidFill>
              </a:rPr>
              <a:t>WebRTC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444752"/>
            <a:ext cx="1719072" cy="24231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1517904"/>
            <a:ext cx="1572768" cy="2276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BE123C"/>
                </a:solidFill>
              </a:defRPr>
            </a:pPr>
            <a:r>
              <a:t>Deployment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Host Application</a:t>
            </a:r>
          </a:p>
          <a:p>
            <a:r>
              <a:rPr b="1" sz="819">
                <a:solidFill>
                  <a:srgbClr val="0F172A"/>
                </a:solidFill>
              </a:rPr>
              <a:t>• Cloudflare: </a:t>
            </a:r>
            <a:r>
              <a:rPr sz="780">
                <a:solidFill>
                  <a:srgbClr val="475569"/>
                </a:solidFill>
              </a:rPr>
              <a:t>Zero-Trust Tunnel</a:t>
            </a:r>
          </a:p>
          <a:p>
            <a:r>
              <a:rPr b="1" sz="819">
                <a:solidFill>
                  <a:srgbClr val="0F172A"/>
                </a:solidFill>
              </a:rPr>
              <a:t>• PWA Manifest: </a:t>
            </a:r>
            <a:r>
              <a:rPr sz="780">
                <a:solidFill>
                  <a:srgbClr val="475569"/>
                </a:solidFill>
              </a:rPr>
              <a:t>Mobile Standalone</a:t>
            </a:r>
          </a:p>
          <a:p>
            <a:r>
              <a:rPr b="1" sz="819">
                <a:solidFill>
                  <a:srgbClr val="0F172A"/>
                </a:solidFill>
              </a:rPr>
              <a:t>• TryCloudflare: </a:t>
            </a:r>
            <a:r>
              <a:rPr sz="780">
                <a:solidFill>
                  <a:srgbClr val="475569"/>
                </a:solidFill>
              </a:rPr>
              <a:t>Worldwide Live URL</a:t>
            </a:r>
          </a:p>
          <a:p>
            <a:r>
              <a:rPr b="1" sz="819">
                <a:solidFill>
                  <a:srgbClr val="0F172A"/>
                </a:solidFill>
              </a:rPr>
              <a:t>• QR Gateway: </a:t>
            </a:r>
            <a:r>
              <a:rPr sz="780">
                <a:solidFill>
                  <a:srgbClr val="475569"/>
                </a:solidFill>
              </a:rPr>
              <a:t>Mobile Phone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1082009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⚙ DEVELOPMENT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43400"/>
            <a:ext cx="1463040" cy="21945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416552"/>
            <a:ext cx="131673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1. Plan &amp; Design</a:t>
            </a:r>
          </a:p>
          <a:p>
            <a:br/>
            <a:pPr>
              <a:defRPr sz="819">
                <a:solidFill>
                  <a:srgbClr val="0F172A"/>
                </a:solidFill>
              </a:defRPr>
            </a:pPr>
            <a:r>
              <a:t>Requirement Analysis, Biomechanics Angle Research &amp; 3D UI/UX Wireframing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4343400"/>
            <a:ext cx="146304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13432" y="4416552"/>
            <a:ext cx="131673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2. Frontend Dev</a:t>
            </a:r>
          </a:p>
          <a:p>
            <a:br/>
            <a:pPr>
              <a:defRPr sz="819">
                <a:solidFill>
                  <a:srgbClr val="0F172A"/>
                </a:solidFill>
              </a:defRPr>
            </a:pPr>
            <a:r>
              <a:t>HTML5, Tailwind CSS, Three.js 3D Visualizer &amp; Mobile Touch Navigation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94760" y="4343400"/>
            <a:ext cx="1463040" cy="219456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67912" y="4416552"/>
            <a:ext cx="131673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3. CV &amp; AI Edge</a:t>
            </a:r>
          </a:p>
          <a:p>
            <a:br/>
            <a:pPr>
              <a:defRPr sz="819">
                <a:solidFill>
                  <a:srgbClr val="0F172A"/>
                </a:solidFill>
              </a:defRPr>
            </a:pPr>
            <a:r>
              <a:t>MediaPipe 33-Landmark 3D Pose, Desi Baithak/Dand Angles &amp; Audio Coach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9240" y="4343400"/>
            <a:ext cx="1463040" cy="21945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22392" y="4416552"/>
            <a:ext cx="131673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4. Backend Dev</a:t>
            </a:r>
          </a:p>
          <a:p>
            <a:br/>
            <a:pPr>
              <a:defRPr sz="819">
                <a:solidFill>
                  <a:srgbClr val="0F172A"/>
                </a:solidFill>
              </a:defRPr>
            </a:pPr>
            <a:r>
              <a:t>Python 3 Flask Server, SQLite Schema, REST APIs &amp; XP Leaderboard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343400"/>
            <a:ext cx="1463040" cy="2194560"/>
          </a:xfrm>
          <a:prstGeom prst="roundRect">
            <a:avLst/>
          </a:prstGeom>
          <a:solidFill>
            <a:srgbClr val="FEFCE8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2" y="4416552"/>
            <a:ext cx="131673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CA8A04"/>
                </a:solidFill>
              </a:defRPr>
            </a:pPr>
            <a:r>
              <a:t>5. Testing &amp; Debug</a:t>
            </a:r>
          </a:p>
          <a:p>
            <a:br/>
            <a:pPr>
              <a:defRPr sz="819">
                <a:solidFill>
                  <a:srgbClr val="0F172A"/>
                </a:solidFill>
              </a:defRPr>
            </a:pPr>
            <a:r>
              <a:t>On-Device 30+ FPS Latency Benchmarking, Calibration &amp; 1-Click Batch Run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4343400"/>
            <a:ext cx="1463040" cy="219456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416552"/>
            <a:ext cx="131673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9333EA"/>
                </a:solidFill>
              </a:defRPr>
            </a:pPr>
            <a:r>
              <a:t>6. Version Control</a:t>
            </a:r>
          </a:p>
          <a:p>
            <a:br/>
            <a:pPr>
              <a:defRPr sz="819">
                <a:solidFill>
                  <a:srgbClr val="0F172A"/>
                </a:solidFill>
              </a:defRPr>
            </a:pPr>
            <a:r>
              <a:t>Modular File Architecture, Git Branch Management &amp; GitHub Code Sync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4343400"/>
            <a:ext cx="1463040" cy="21945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85832" y="4416552"/>
            <a:ext cx="131673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7. Deployment</a:t>
            </a:r>
          </a:p>
          <a:p>
            <a:br/>
            <a:pPr>
              <a:defRPr sz="819">
                <a:solidFill>
                  <a:srgbClr val="0F172A"/>
                </a:solidFill>
              </a:defRPr>
            </a:pPr>
            <a:r>
              <a:t>Cloudflare Zero-Trust Tunnel, PWA Setup &amp; Worldwide Live Mobile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37023"/>
                </a:solidFill>
                <a:latin typeface="Arial"/>
              </a:defRPr>
            </a:pPr>
            <a:r>
              <a:t>SIH 2026 | PS ID: 26196 | FEASIBILITY &amp; RISK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Feasibility, Viability &amp; Potential Risks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663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00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TECHNICAL FEASIBILITY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Zero Expensive Hardware: Requires only a standard smartphone camera ($0 extra investment).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Offline Execution: Pose detection runs entirely on-device; works in low-connectivity dorms.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Resource Efficient: MediaPipe models optimized for Android 8.0+ and 2GB+ RAM devices.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Proven Tech Stack: Built on industry-tested open-source libraries (OpenCV, Flutter, FastAPI).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3815" y="1280160"/>
            <a:ext cx="51663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6695" y="1417320"/>
            <a:ext cx="48006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3"/>
                </a:solidFill>
              </a:defRPr>
            </a:pPr>
            <a:r>
              <a:t>COMMERCIAL &amp; PRACTICAL VIABILITY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University Campus Adoption: Ready to pilot across AICTE colleges &amp; sports departments.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Ultra-Low Infrastructure Cost: Edge processing reduces cloud server costs by &gt;85%.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Sustainable Model: Freemium model with sponsored campus sports events and brand rewards.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High Retention: Peer challenges and campus tournaments provide sustained active engagement.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10728655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POTENTIAL CHALLENGES &amp; PROVEN MITIGATION STRATEGIES</a:t>
            </a:r>
          </a:p>
          <a:p>
            <a:r>
              <a:rPr b="1" sz="1000">
                <a:solidFill>
                  <a:srgbClr val="0F1E36"/>
                </a:solidFill>
              </a:rPr>
              <a:t>• Challenge: Dorm Room Clutter &amp; Dim Lighting  ➔  </a:t>
            </a:r>
            <a:r>
              <a:rPr sz="1000">
                <a:solidFill>
                  <a:srgbClr val="475569"/>
                </a:solidFill>
              </a:rPr>
              <a:t>Mitigation: Adaptive CLAHE contrast normalization and landmark confidence score gating to ignore messy backgrounds.</a:t>
            </a:r>
          </a:p>
          <a:p>
            <a:r>
              <a:rPr b="1" sz="1000">
                <a:solidFill>
                  <a:srgbClr val="0F1E36"/>
                </a:solidFill>
              </a:rPr>
              <a:t>• Challenge: User Motivation Drop-off (&gt;2 Weeks)  ➔  </a:t>
            </a:r>
            <a:r>
              <a:rPr sz="1000">
                <a:solidFill>
                  <a:srgbClr val="475569"/>
                </a:solidFill>
              </a:rPr>
              <a:t>Mitigation: Streak protection freeze mechanics, micro-challenges (3-minute workouts), and campus community rewards.</a:t>
            </a:r>
          </a:p>
          <a:p>
            <a:r>
              <a:rPr b="1" sz="1000">
                <a:solidFill>
                  <a:srgbClr val="0F1E36"/>
                </a:solidFill>
              </a:rPr>
              <a:t>• Challenge: Accuracy Across Diverse Body Types  ➔  </a:t>
            </a:r>
            <a:r>
              <a:rPr sz="1000">
                <a:solidFill>
                  <a:srgbClr val="475569"/>
                </a:solidFill>
              </a:rPr>
              <a:t>Mitigation: Trained on synthetic variations; calibrated using relative bone length ratios rather than fixed pixel dimensions.</a:t>
            </a:r>
          </a:p>
          <a:p>
            <a:r>
              <a:rPr b="1" sz="1000">
                <a:solidFill>
                  <a:srgbClr val="0F1E36"/>
                </a:solidFill>
              </a:rPr>
              <a:t>• Challenge: Data Privacy &amp; Security Apprehensions  ➔  </a:t>
            </a:r>
            <a:r>
              <a:rPr sz="1000">
                <a:solidFill>
                  <a:srgbClr val="475569"/>
                </a:solidFill>
              </a:rPr>
              <a:t>Mitigation: Architecture guarantees zero video upload. Video frames processed entirely in volatile device RAM and discarded.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37023"/>
                </a:solidFill>
                <a:latin typeface="Arial"/>
              </a:defRPr>
            </a:pPr>
            <a:r>
              <a:t>SIH 2026 | PS ID: 26196 | INNOVATION &amp; MARKET DIFFERENTIATOR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Novelty, Innovation &amp; Competitive Matrix (USP)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66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00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3"/>
                </a:solidFill>
              </a:defRPr>
            </a:pPr>
            <a:r>
              <a:t>KEY NOVELTIES &amp; UNIQUE SELLING POINTS</a:t>
            </a:r>
          </a:p>
          <a:p>
            <a:r>
              <a:rPr b="1" sz="1050">
                <a:solidFill>
                  <a:srgbClr val="0F1E36"/>
                </a:solidFill>
              </a:rPr>
              <a:t>
1. Real-Time Vision Correction on Budget Phones
</a:t>
            </a:r>
            <a:r>
              <a:rPr sz="950">
                <a:solidFill>
                  <a:srgbClr val="0F172A"/>
                </a:solidFill>
              </a:rPr>
              <a:t>Unlike pre-recorded workout videos, FitVibe AI actively watches, evaluates joint angles, and provides live audio feedback without expensive wearable sensors.</a:t>
            </a:r>
          </a:p>
          <a:p>
            <a:r>
              <a:rPr b="1" sz="1050">
                <a:solidFill>
                  <a:srgbClr val="0F1E36"/>
                </a:solidFill>
              </a:rPr>
              <a:t>
2. Tailored to Indian Context &amp; Desi Fitness
</a:t>
            </a:r>
            <a:r>
              <a:rPr sz="950">
                <a:solidFill>
                  <a:srgbClr val="0F172A"/>
                </a:solidFill>
              </a:rPr>
              <a:t>Supports traditional Indian wellness practices (Surya Namaskar pose accuracy, Pranayama rhythms) along with mess/canteen Indian food recognition.</a:t>
            </a:r>
          </a:p>
          <a:p>
            <a:r>
              <a:rPr b="1" sz="1050">
                <a:solidFill>
                  <a:srgbClr val="0F1E36"/>
                </a:solidFill>
              </a:rPr>
              <a:t>
3. Campus-Centric Social Gamification
</a:t>
            </a:r>
            <a:r>
              <a:rPr sz="950">
                <a:solidFill>
                  <a:srgbClr val="0F172A"/>
                </a:solidFill>
              </a:rPr>
              <a:t>Harnesses university peer networks: inter-hostel leagues, branch leaderboards, and study-break fitness streaks that cultivate sustainable lifestyle habits.</a:t>
            </a:r>
          </a:p>
          <a:p>
            <a:r>
              <a:rPr b="1" sz="1050">
                <a:solidFill>
                  <a:srgbClr val="0F1E36"/>
                </a:solidFill>
              </a:rPr>
              <a:t>
4. 100% Privacy by Design (Zero Cloud Video)
</a:t>
            </a:r>
            <a:r>
              <a:rPr sz="950">
                <a:solidFill>
                  <a:srgbClr val="0F172A"/>
                </a:solidFill>
              </a:rPr>
              <a:t>Edge AI ensures no video data is ever saved or transmitted over the internet, addressing female and privacy-sensitive student concerns completely.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3815" y="1280160"/>
            <a:ext cx="516636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6695" y="1417320"/>
            <a:ext cx="4800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COMPETITIVE COMPARISON MATRIX</a:t>
            </a:r>
          </a:p>
          <a:p>
            <a:pPr>
              <a:defRPr sz="1000" b="1">
                <a:solidFill>
                  <a:srgbClr val="0F1E36"/>
                </a:solidFill>
              </a:defRPr>
            </a:pPr>
            <a:r>
              <a:t>Parameter                | FitVibe AI     | Others        </a:t>
            </a:r>
          </a:p>
          <a:p>
            <a:r>
              <a:rPr b="1" sz="1000">
                <a:solidFill>
                  <a:srgbClr val="0F1E36"/>
                </a:solidFill>
              </a:rPr>
              <a:t>
• Real-time AI Pose Guidance:
</a:t>
            </a:r>
            <a:r>
              <a:rPr sz="950">
                <a:solidFill>
                  <a:srgbClr val="475569"/>
                </a:solidFill>
              </a:rPr>
              <a:t>   FitVibe: ✅ Yes (Free)  vs  Competitors: ❌ Video Only / $ / ❌ No</a:t>
            </a:r>
          </a:p>
          <a:p>
            <a:r>
              <a:rPr b="1" sz="1000">
                <a:solidFill>
                  <a:srgbClr val="0F1E36"/>
                </a:solidFill>
              </a:rPr>
              <a:t>
• No Costly Equipment Needed:
</a:t>
            </a:r>
            <a:r>
              <a:rPr sz="950">
                <a:solidFill>
                  <a:srgbClr val="475569"/>
                </a:solidFill>
              </a:rPr>
              <a:t>   FitVibe: ✅ 100% Smartphone  vs  Competitors: ⚠️ Requires Gear / ⚠️ GPS/Smartwatch</a:t>
            </a:r>
          </a:p>
          <a:p>
            <a:r>
              <a:rPr b="1" sz="1000">
                <a:solidFill>
                  <a:srgbClr val="0F1E36"/>
                </a:solidFill>
              </a:rPr>
              <a:t>
• Campus &amp; Hostel Leagues:
</a:t>
            </a:r>
            <a:r>
              <a:rPr sz="950">
                <a:solidFill>
                  <a:srgbClr val="475569"/>
                </a:solidFill>
              </a:rPr>
              <a:t>   FitVibe: ✅ Native Feature  vs  Competitors: ❌ Generic / Global / ❌ Global Only</a:t>
            </a:r>
          </a:p>
          <a:p>
            <a:r>
              <a:rPr b="1" sz="1000">
                <a:solidFill>
                  <a:srgbClr val="0F1E36"/>
                </a:solidFill>
              </a:rPr>
              <a:t>
• Indian Mess Diet Recognition:
</a:t>
            </a:r>
            <a:r>
              <a:rPr sz="950">
                <a:solidFill>
                  <a:srgbClr val="475569"/>
                </a:solidFill>
              </a:rPr>
              <a:t>   FitVibe: ✅ Built-in AI  vs  Competitors: ⚠️ Partial / Western / ⚠️ Generic Database</a:t>
            </a:r>
          </a:p>
          <a:p>
            <a:r>
              <a:rPr b="1" sz="1000">
                <a:solidFill>
                  <a:srgbClr val="0F1E36"/>
                </a:solidFill>
              </a:rPr>
              <a:t>
• 100% Edge Privacy Guarantee:
</a:t>
            </a:r>
            <a:r>
              <a:rPr sz="950">
                <a:solidFill>
                  <a:srgbClr val="475569"/>
                </a:solidFill>
              </a:rPr>
              <a:t>   FitVibe: ✅ Zero Cloud Video  vs  Competitors: ❌ Cloud Stream / N/A</a:t>
            </a:r>
          </a:p>
          <a:p>
            <a:r>
              <a:rPr b="1" sz="1000">
                <a:solidFill>
                  <a:srgbClr val="0F1E36"/>
                </a:solidFill>
              </a:rPr>
              <a:t>
• Affordability for Students:
</a:t>
            </a:r>
            <a:r>
              <a:rPr sz="950">
                <a:solidFill>
                  <a:srgbClr val="475569"/>
                </a:solidFill>
              </a:rPr>
              <a:t>   FitVibe: ✅ 100% Free Tier  vs  Competitors: ❌ Costly Subscription / ❌ Paywalled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37023"/>
                </a:solidFill>
                <a:latin typeface="Arial"/>
              </a:defRPr>
            </a:pPr>
            <a:r>
              <a:t>SIH 2026 | PS ID: 26196 | SOCIAL IMPACT &amp;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Impact, Future Scope &amp; National Alignment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2841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296265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3"/>
                </a:solidFill>
              </a:defRPr>
            </a:pPr>
            <a:r>
              <a:t>SOCIAL &amp; HEALTH IMPACT</a:t>
            </a:r>
          </a:p>
          <a:p>
            <a:r>
              <a:rPr b="1" sz="1050">
                <a:solidFill>
                  <a:srgbClr val="0F1E36"/>
                </a:solidFill>
              </a:rPr>
              <a:t>
Combat Sedentary Lifestyle: </a:t>
            </a:r>
            <a:r>
              <a:rPr sz="950">
                <a:solidFill>
                  <a:srgbClr val="0F172A"/>
                </a:solidFill>
              </a:rPr>
              <a:t>Helps prevent posture disorders (forward head, rounded shoulders) and chronic fatigue among youth.</a:t>
            </a:r>
          </a:p>
          <a:p>
            <a:r>
              <a:rPr b="1" sz="1050">
                <a:solidFill>
                  <a:srgbClr val="0F1E36"/>
                </a:solidFill>
              </a:rPr>
              <a:t>
Democratize Fitness: </a:t>
            </a:r>
            <a:r>
              <a:rPr sz="950">
                <a:solidFill>
                  <a:srgbClr val="0F172A"/>
                </a:solidFill>
              </a:rPr>
              <a:t>High-grade posture coaching made accessible to Tier-2, Tier-3 and rural college students free of cost.</a:t>
            </a:r>
          </a:p>
          <a:p>
            <a:r>
              <a:rPr b="1" sz="1050">
                <a:solidFill>
                  <a:srgbClr val="0F1E36"/>
                </a:solidFill>
              </a:rPr>
              <a:t>
Mental Health Benefits: </a:t>
            </a:r>
            <a:r>
              <a:rPr sz="950">
                <a:solidFill>
                  <a:srgbClr val="0F172A"/>
                </a:solidFill>
              </a:rPr>
              <a:t>Physical exercise releases endorphins, directly reducing study fatigue, anxiety, and depression during exams.</a:t>
            </a:r>
          </a:p>
          <a:p>
            <a:r>
              <a:rPr b="1" sz="1050">
                <a:solidFill>
                  <a:srgbClr val="0F1E36"/>
                </a:solidFill>
              </a:rPr>
              <a:t>
Injury Prevention: </a:t>
            </a:r>
            <a:r>
              <a:rPr sz="950">
                <a:solidFill>
                  <a:srgbClr val="0F172A"/>
                </a:solidFill>
              </a:rPr>
              <a:t>Real-time angle correction ensures correct form, preventing common weightlifting and bodyweight injuries.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280160"/>
            <a:ext cx="332841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417320"/>
            <a:ext cx="296265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ALIGNMENT WITH MISSIONS</a:t>
            </a:r>
          </a:p>
          <a:p>
            <a:r>
              <a:rPr b="1" sz="1050">
                <a:solidFill>
                  <a:srgbClr val="0F1E36"/>
                </a:solidFill>
              </a:rPr>
              <a:t>
Fit India Movement: </a:t>
            </a:r>
            <a:r>
              <a:rPr sz="950">
                <a:solidFill>
                  <a:srgbClr val="0F172A"/>
                </a:solidFill>
              </a:rPr>
              <a:t>Directly accelerates the Government of India's flagship mission by ingraining daily fitness into academic routines.</a:t>
            </a:r>
          </a:p>
          <a:p>
            <a:r>
              <a:rPr b="1" sz="1050">
                <a:solidFill>
                  <a:srgbClr val="0F1E36"/>
                </a:solidFill>
              </a:rPr>
              <a:t>
National Education Policy (NEP 2020): </a:t>
            </a:r>
            <a:r>
              <a:rPr sz="950">
                <a:solidFill>
                  <a:srgbClr val="0F172A"/>
                </a:solidFill>
              </a:rPr>
              <a:t>Supports holistic student development by bridging academic stress with sports and physical well-being.</a:t>
            </a:r>
          </a:p>
          <a:p>
            <a:r>
              <a:rPr b="1" sz="1050">
                <a:solidFill>
                  <a:srgbClr val="0F1E36"/>
                </a:solidFill>
              </a:rPr>
              <a:t>
Khelo India Initiative: </a:t>
            </a:r>
            <a:r>
              <a:rPr sz="950">
                <a:solidFill>
                  <a:srgbClr val="0F172A"/>
                </a:solidFill>
              </a:rPr>
              <a:t>Identifies grassroot athletic talent through standardized fitness benchmark assessments on campus.</a:t>
            </a:r>
          </a:p>
          <a:p>
            <a:r>
              <a:rPr b="1" sz="1050">
                <a:solidFill>
                  <a:srgbClr val="0F1E36"/>
                </a:solidFill>
              </a:rPr>
              <a:t>
Digital India &amp; Atmanirbhar Bharat: </a:t>
            </a:r>
            <a:r>
              <a:rPr sz="950">
                <a:solidFill>
                  <a:srgbClr val="0F172A"/>
                </a:solidFill>
              </a:rPr>
              <a:t>Indigenous AI technology engineered locally for Indian lifestyle, diets, and vernacular languages.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280160"/>
            <a:ext cx="332841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1417320"/>
            <a:ext cx="296265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FUTURE ROADMAP (NEXT PHASES)</a:t>
            </a:r>
          </a:p>
          <a:p>
            <a:r>
              <a:rPr b="1" sz="1050">
                <a:solidFill>
                  <a:srgbClr val="F37023"/>
                </a:solidFill>
              </a:rPr>
              <a:t>
Phase 1 (MVP - Hackathon): </a:t>
            </a:r>
            <a:r>
              <a:rPr sz="950">
                <a:solidFill>
                  <a:srgbClr val="0F172A"/>
                </a:solidFill>
              </a:rPr>
              <a:t>Core AI pose detection (Push-ups, Squats, Planks), rep counter, student profiles, and leaderboard.</a:t>
            </a:r>
          </a:p>
          <a:p>
            <a:r>
              <a:rPr b="1" sz="1050">
                <a:solidFill>
                  <a:srgbClr val="0F1E36"/>
                </a:solidFill>
              </a:rPr>
              <a:t>
Phase 2 (Campus Pilot): </a:t>
            </a:r>
            <a:r>
              <a:rPr sz="950">
                <a:solidFill>
                  <a:srgbClr val="0F172A"/>
                </a:solidFill>
              </a:rPr>
              <a:t>Hostel vs Hostel leagues, Surya Namaskar module, canteen diet scanner, and Health Connect sync.</a:t>
            </a:r>
          </a:p>
          <a:p>
            <a:r>
              <a:rPr b="1" sz="1050">
                <a:solidFill>
                  <a:srgbClr val="0F1E36"/>
                </a:solidFill>
              </a:rPr>
              <a:t>
Phase 3 (AI Rehab &amp; Physiotherapy): </a:t>
            </a:r>
            <a:r>
              <a:rPr sz="950">
                <a:solidFill>
                  <a:srgbClr val="0F172A"/>
                </a:solidFill>
              </a:rPr>
              <a:t>Post-injury physical therapy guidance, sports biomechanics analysis for college athletes.</a:t>
            </a:r>
          </a:p>
          <a:p>
            <a:r>
              <a:rPr b="1" sz="1050">
                <a:solidFill>
                  <a:srgbClr val="0F1E36"/>
                </a:solidFill>
              </a:rPr>
              <a:t>
Phase 4 (Vernacular Voice AI): </a:t>
            </a:r>
            <a:r>
              <a:rPr sz="950">
                <a:solidFill>
                  <a:srgbClr val="0F172A"/>
                </a:solidFill>
              </a:rPr>
              <a:t>Multi-lingual voice coach supporting Marathi, Hindi, Tamil, Telugu, and other Indian regional languages.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